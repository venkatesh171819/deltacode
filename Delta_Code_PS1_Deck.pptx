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5aad233-700c-9e6e-3090-f30e15f40cd6}">
          <p14:sldIdLst>
            <p14:sldId id="256"/>
          </p14:sldIdLst>
        </p14:section>
        <p14:section name="Problem" id="{4be4b826-e9ef-a983-eb1c-15fc552f2ced}">
          <p14:sldIdLst>
            <p14:sldId id="257"/>
          </p14:sldIdLst>
        </p14:section>
        <p14:section name="Results" id="{d0faa3d9-d4c8-b16c-9746-2489bc247731}">
          <p14:sldIdLst>
            <p14:sldId id="258"/>
          </p14:sldIdLst>
        </p14:section>
        <p14:section name="Mathematics" id="{73c071ad-857e-c29b-774f-22e904f83bc3}">
          <p14:sldIdLst>
            <p14:sldId id="259"/>
            <p14:sldId id="260"/>
          </p14:sldIdLst>
        </p14:section>
        <p14:section name="Algorithm" id="{896ed8b3-9504-6434-72a1-e2dfeeda2312}">
          <p14:sldIdLst>
            <p14:sldId id="261"/>
            <p14:sldId id="262"/>
          </p14:sldIdLst>
        </p14:section>
        <p14:section name="Implementation" id="{a01f3535-eb6d-a7e0-40a7-bed41018267d}">
          <p14:sldIdLst>
            <p14:sldId id="263"/>
          </p14:sldIdLst>
        </p14:section>
        <p14:section name="Verification" id="{3d7fab9e-e3d3-9df2-286c-5d767fe47316}">
          <p14:sldIdLst>
            <p14:sldId id="264"/>
            <p14:sldId id="265"/>
            <p14:sldId id="266"/>
          </p14:sldIdLst>
        </p14:section>
        <p14:section name="Performance" id="{906de59b-f62a-f0ae-1f62-da8824797333}">
          <p14:sldIdLst>
            <p14:sldId id="267"/>
            <p14:sldId id="268"/>
          </p14:sldIdLst>
        </p14:section>
        <p14:section name="Correctness" id="{6a4fbefa-81c7-cc3a-8623-301ef43c4195}">
          <p14:sldIdLst>
            <p14:sldId id="269"/>
          </p14:sldIdLst>
        </p14:section>
        <p14:section name="Wrap-up" id="{876a5799-83b7-8e4f-4697-20875a1b04b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Arial"/>
              </a:rPr>
              <a:t>Hires achieved vs seats available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Hires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Greedy</c:v>
                  </c:pt>
                  <c:pt idx="1">
                    <c:v>Optimal</c:v>
                  </c:pt>
                  <c:pt idx="2">
                    <c:v>Total seats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1709</c:v>
                </c:pt>
                <c:pt idx="1">
                  <c:v>1901</c:v>
                </c:pt>
                <c:pt idx="2">
                  <c:v>2039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0"/>
          <c:min val="0"/>
        </c:scaling>
        <c:delete val="0"/>
        <c:axPos val="l"/>
        <c:majorGridlines>
          <c:spPr>
            <a:ln w="6350" cap="flat">
              <a:solidFill>
                <a:srgbClr val="D9DE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Arial"/>
              </a:rPr>
              <a:t>Runtime in ms vs number of edges |E|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Hopcroft–Karp</c:v>
                </c:pt>
              </c:strCache>
            </c:strRef>
          </c:tx>
          <c:spPr>
            <a:solidFill>
              <a:srgbClr val="2E7D4F"/>
            </a:solidFill>
            <a:ln w="38100" cap="flat">
              <a:solidFill>
                <a:srgbClr val="2E7D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E7D4F"/>
              </a:solidFill>
              <a:ln w="9525" cap="flat">
                <a:solidFill>
                  <a:srgbClr val="2E7D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3,053</c:v>
                  </c:pt>
                  <c:pt idx="1">
                    <c:v>6,101</c:v>
                  </c:pt>
                  <c:pt idx="2">
                    <c:v>12,236</c:v>
                  </c:pt>
                  <c:pt idx="3">
                    <c:v>24,732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31</c:v>
                </c:pt>
                <c:pt idx="2">
                  <c:v>75</c:v>
                </c:pt>
                <c:pt idx="3">
                  <c:v>230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scipy milp (ILP)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3,053</c:v>
                  </c:pt>
                  <c:pt idx="1">
                    <c:v>6,101</c:v>
                  </c:pt>
                  <c:pt idx="2">
                    <c:v>12,236</c:v>
                  </c:pt>
                  <c:pt idx="3">
                    <c:v>24,732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</c:v>
                </c:pt>
                <c:pt idx="1">
                  <c:v>102</c:v>
                </c:pt>
                <c:pt idx="2">
                  <c:v>295</c:v>
                </c:pt>
                <c:pt idx="3">
                  <c:v>842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E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place as many candidates as possible into capacity-limited roles. Show that greedy loses hires and how augmenting paths recover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 synthetic (seeded) because no dataset came with the statement; the program also accepts real CSVs.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499 candidates stay unplaced in the optimum; 138 seats stay empty because no route connects them to an unplaced candidate (the min-cut certificate).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chain 1 of 192 augmenting paths found from the greedy start. All 192 were multi-step chains; the longest had 11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9144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Bipartite Matching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Augmenting Paths</a:t>
            </a:r>
            <a:endParaRPr lang="en-US" sz="42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697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Workforce allocation with role capacities, Hopcroft–Karp, and a proof of optimality</a:t>
            </a:r>
            <a:endParaRPr lang="en-US" sz="1800" dirty="0"/>
          </a:p>
        </p:txBody>
      </p:sp>
      <p:sp>
        <p:nvSpPr>
          <p:cNvPr id="4" name="Event"/>
          <p:cNvSpPr txBox="1"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Delta Code 2026  ·  Problem Statement 1: Linear Algebra &amp; Graph Optimization</a:t>
            </a:r>
            <a:endParaRPr lang="en-US" sz="1400" dirty="0"/>
          </a:p>
        </p:txBody>
      </p:sp>
      <p:sp>
        <p:nvSpPr>
          <p:cNvPr id="5" name="Author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Venkatesh Dharavath  ·  M.Sc. Mathematics &amp; Scientific Computing, NIT Warangal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 hiring leaves people unplaced</a:t>
            </a:r>
            <a:endParaRPr lang="en-US" sz="3000" dirty="0"/>
          </a:p>
        </p:txBody>
      </p:sp>
      <p:sp>
        <p:nvSpPr>
          <p:cNvPr id="3" name="stat U card"/>
          <p:cNvSpPr/>
          <p:nvPr/>
        </p:nvSpPr>
        <p:spPr>
          <a:xfrm>
            <a:off x="457200" y="1188720"/>
            <a:ext cx="187452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U value"/>
          <p:cNvSpPr txBox="1"/>
          <p:nvPr/>
        </p:nvSpPr>
        <p:spPr>
          <a:xfrm>
            <a:off x="548640" y="12618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</a:t>
            </a:r>
            <a:endParaRPr lang="en-US" sz="3400" dirty="0"/>
          </a:p>
        </p:txBody>
      </p:sp>
      <p:sp>
        <p:nvSpPr>
          <p:cNvPr id="5" name="stat U label"/>
          <p:cNvSpPr txBox="1"/>
          <p:nvPr/>
        </p:nvSpPr>
        <p:spPr>
          <a:xfrm>
            <a:off x="54864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candidates |U|</a:t>
            </a:r>
            <a:endParaRPr lang="en-US" sz="1200" dirty="0"/>
          </a:p>
        </p:txBody>
      </p:sp>
      <p:sp>
        <p:nvSpPr>
          <p:cNvPr id="6" name="stat V card"/>
          <p:cNvSpPr/>
          <p:nvPr/>
        </p:nvSpPr>
        <p:spPr>
          <a:xfrm>
            <a:off x="2468880" y="1188720"/>
            <a:ext cx="187452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 value"/>
          <p:cNvSpPr txBox="1"/>
          <p:nvPr/>
        </p:nvSpPr>
        <p:spPr>
          <a:xfrm>
            <a:off x="2560320" y="12618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</a:t>
            </a:r>
            <a:endParaRPr lang="en-US" sz="3400" dirty="0"/>
          </a:p>
        </p:txBody>
      </p:sp>
      <p:sp>
        <p:nvSpPr>
          <p:cNvPr id="8" name="stat V label"/>
          <p:cNvSpPr txBox="1"/>
          <p:nvPr/>
        </p:nvSpPr>
        <p:spPr>
          <a:xfrm>
            <a:off x="256032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roles |V| (3–10 seats)</a:t>
            </a:r>
            <a:endParaRPr lang="en-US" sz="1200" dirty="0"/>
          </a:p>
        </p:txBody>
      </p:sp>
      <p:sp>
        <p:nvSpPr>
          <p:cNvPr id="9" name="stat E card"/>
          <p:cNvSpPr/>
          <p:nvPr/>
        </p:nvSpPr>
        <p:spPr>
          <a:xfrm>
            <a:off x="4480560" y="1188720"/>
            <a:ext cx="187452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E value"/>
          <p:cNvSpPr txBox="1"/>
          <p:nvPr/>
        </p:nvSpPr>
        <p:spPr>
          <a:xfrm>
            <a:off x="4572000" y="126187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6,142</a:t>
            </a:r>
            <a:endParaRPr lang="en-US" sz="3400" dirty="0"/>
          </a:p>
        </p:txBody>
      </p:sp>
      <p:sp>
        <p:nvSpPr>
          <p:cNvPr id="11" name="stat E label"/>
          <p:cNvSpPr txBox="1"/>
          <p:nvPr/>
        </p:nvSpPr>
        <p:spPr>
          <a:xfrm>
            <a:off x="457200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eligibility edges |E|</a:t>
            </a:r>
            <a:endParaRPr lang="en-US" sz="1200" dirty="0"/>
          </a:p>
        </p:txBody>
      </p:sp>
      <p:sp>
        <p:nvSpPr>
          <p:cNvPr id="12" name="stat cap card"/>
          <p:cNvSpPr/>
          <p:nvPr/>
        </p:nvSpPr>
        <p:spPr>
          <a:xfrm>
            <a:off x="6492240" y="1188720"/>
            <a:ext cx="219456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cap value"/>
          <p:cNvSpPr txBox="1"/>
          <p:nvPr/>
        </p:nvSpPr>
        <p:spPr>
          <a:xfrm>
            <a:off x="6583680" y="12618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2,039</a:t>
            </a:r>
            <a:endParaRPr lang="en-US" sz="3400" dirty="0"/>
          </a:p>
        </p:txBody>
      </p:sp>
      <p:sp>
        <p:nvSpPr>
          <p:cNvPr id="14" name="stat cap label"/>
          <p:cNvSpPr txBox="1"/>
          <p:nvPr/>
        </p:nvSpPr>
        <p:spPr>
          <a:xfrm>
            <a:off x="6583680" y="1901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total seats Σ c_v</a:t>
            </a:r>
            <a:endParaRPr lang="en-US" sz="1200" dirty="0"/>
          </a:p>
        </p:txBody>
      </p:sp>
      <p:sp>
        <p:nvSpPr>
          <p:cNvPr id="15" name="trap card"/>
          <p:cNvSpPr/>
          <p:nvPr/>
        </p:nvSpPr>
        <p:spPr>
          <a:xfrm>
            <a:off x="457200" y="2560320"/>
            <a:ext cx="402336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rap title"/>
          <p:cNvSpPr txBox="1"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smallest trap</a:t>
            </a:r>
            <a:endParaRPr lang="en-US" sz="1600" dirty="0"/>
          </a:p>
        </p:txBody>
      </p:sp>
      <p:sp>
        <p:nvSpPr>
          <p:cNvPr id="17" name="trap bullets"/>
          <p:cNvSpPr txBox="1"/>
          <p:nvPr/>
        </p:nvSpPr>
        <p:spPr>
          <a:xfrm>
            <a:off x="64008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Roles X and Y have 1 seat each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Ann fits X or Y; Ben fits only 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Greedy gives Ann X, so Ben is stranded: 1 hire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Ann on Y and Ben on X: 2 hires</a:t>
            </a:r>
            <a:endParaRPr lang="en-US" sz="1400" dirty="0"/>
          </a:p>
        </p:txBody>
      </p:sp>
      <p:sp>
        <p:nvSpPr>
          <p:cNvPr id="18" name="fix card"/>
          <p:cNvSpPr/>
          <p:nvPr/>
        </p:nvSpPr>
        <p:spPr>
          <a:xfrm>
            <a:off x="4663440" y="2560320"/>
            <a:ext cx="402336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ix title"/>
          <p:cNvSpPr txBox="1"/>
          <p:nvPr/>
        </p:nvSpPr>
        <p:spPr>
          <a:xfrm>
            <a:off x="48463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600" dirty="0"/>
          </a:p>
        </p:txBody>
      </p:sp>
      <p:sp>
        <p:nvSpPr>
          <p:cNvPr id="20" name="fix bullets"/>
          <p:cNvSpPr txBox="1"/>
          <p:nvPr/>
        </p:nvSpPr>
        <p:spPr>
          <a:xfrm>
            <a:off x="484632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First-fit decisions are irreversible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augmenting path shifts a chain of placed people one step each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chain adds exactly one hire; repeat until no chain exists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placement beats greedy by 192 hires</a:t>
            </a:r>
            <a:endParaRPr lang="en-US" sz="3000" dirty="0"/>
          </a:p>
        </p:txBody>
      </p:sp>
      <p:sp>
        <p:nvSpPr>
          <p:cNvPr id="3" name="stat greedy card"/>
          <p:cNvSpPr/>
          <p:nvPr/>
        </p:nvSpPr>
        <p:spPr>
          <a:xfrm>
            <a:off x="457200" y="1188720"/>
            <a:ext cx="246888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greedy value"/>
          <p:cNvSpPr txBox="1"/>
          <p:nvPr/>
        </p:nvSpPr>
        <p:spPr>
          <a:xfrm>
            <a:off x="548640" y="12618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1,709</a:t>
            </a:r>
            <a:endParaRPr lang="en-US" sz="3400" dirty="0"/>
          </a:p>
        </p:txBody>
      </p:sp>
      <p:sp>
        <p:nvSpPr>
          <p:cNvPr id="5" name="stat greedy label"/>
          <p:cNvSpPr txBox="1"/>
          <p:nvPr/>
        </p:nvSpPr>
        <p:spPr>
          <a:xfrm>
            <a:off x="548640" y="19019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greedy first-fit hires</a:t>
            </a:r>
            <a:endParaRPr lang="en-US" sz="1200" dirty="0"/>
          </a:p>
        </p:txBody>
      </p:sp>
      <p:sp>
        <p:nvSpPr>
          <p:cNvPr id="6" name="stat optimal card"/>
          <p:cNvSpPr/>
          <p:nvPr/>
        </p:nvSpPr>
        <p:spPr>
          <a:xfrm>
            <a:off x="457200" y="2468880"/>
            <a:ext cx="246888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optimal value"/>
          <p:cNvSpPr txBox="1"/>
          <p:nvPr/>
        </p:nvSpPr>
        <p:spPr>
          <a:xfrm>
            <a:off x="548640" y="25420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1,901</a:t>
            </a:r>
            <a:endParaRPr lang="en-US" sz="3400" dirty="0"/>
          </a:p>
        </p:txBody>
      </p:sp>
      <p:sp>
        <p:nvSpPr>
          <p:cNvPr id="8" name="stat optimal label"/>
          <p:cNvSpPr txBox="1"/>
          <p:nvPr/>
        </p:nvSpPr>
        <p:spPr>
          <a:xfrm>
            <a:off x="548640" y="3182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optimal hires (Hopcroft–Karp)</a:t>
            </a:r>
            <a:endParaRPr lang="en-US" sz="1200" dirty="0"/>
          </a:p>
        </p:txBody>
      </p:sp>
      <p:sp>
        <p:nvSpPr>
          <p:cNvPr id="9" name="stat gap card"/>
          <p:cNvSpPr/>
          <p:nvPr/>
        </p:nvSpPr>
        <p:spPr>
          <a:xfrm>
            <a:off x="457200" y="3749040"/>
            <a:ext cx="246888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gap value"/>
          <p:cNvSpPr txBox="1"/>
          <p:nvPr/>
        </p:nvSpPr>
        <p:spPr>
          <a:xfrm>
            <a:off x="548640" y="38221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+192</a:t>
            </a:r>
            <a:endParaRPr lang="en-US" sz="3400" dirty="0"/>
          </a:p>
        </p:txBody>
      </p:sp>
      <p:sp>
        <p:nvSpPr>
          <p:cNvPr id="11" name="stat gap label"/>
          <p:cNvSpPr txBox="1"/>
          <p:nvPr/>
        </p:nvSpPr>
        <p:spPr>
          <a:xfrm>
            <a:off x="548640" y="4462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Greedy Capacity Gap (+11.2%)</a:t>
            </a:r>
            <a:endParaRPr lang="en-US" sz="1200" dirty="0"/>
          </a:p>
        </p:txBody>
      </p:sp>
      <p:graphicFrame>
        <p:nvGraphicFramePr>
          <p:cNvPr id="12" name="hires chart" descr=""/>
          <p:cNvGraphicFramePr/>
          <p:nvPr/>
        </p:nvGraphicFramePr>
        <p:xfrm>
          <a:off x="3200400" y="118872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equivalent formulations</a:t>
            </a:r>
            <a:endParaRPr lang="en-US" sz="3000" dirty="0"/>
          </a:p>
        </p:txBody>
      </p:sp>
      <p:sp>
        <p:nvSpPr>
          <p:cNvPr id="3" name="flow card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low title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network G′</a:t>
            </a:r>
            <a:endParaRPr lang="en-US" sz="1800" dirty="0"/>
          </a:p>
        </p:txBody>
      </p:sp>
      <p:sp>
        <p:nvSpPr>
          <p:cNvPr id="5" name="flow bullets"/>
          <p:cNvSpPr txBox="1"/>
          <p:nvPr/>
        </p:nvSpPr>
        <p:spPr>
          <a:xfrm>
            <a:off x="64008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Source s, sink 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 → u, capacity 1, for each candidate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 → v, capacity 1, if u is eligible for v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 → t, capacity c_v (seats)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Max flow = max hires; an integral flow is a legal assignment</a:t>
            </a:r>
            <a:endParaRPr lang="en-US" sz="1600" dirty="0"/>
          </a:p>
        </p:txBody>
      </p:sp>
      <p:sp>
        <p:nvSpPr>
          <p:cNvPr id="6" name="ilp card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lp title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linear program</a:t>
            </a:r>
            <a:endParaRPr lang="en-US" sz="1800" dirty="0"/>
          </a:p>
        </p:txBody>
      </p:sp>
      <p:sp>
        <p:nvSpPr>
          <p:cNvPr id="8" name="ilp text"/>
          <p:cNvSpPr txBox="1"/>
          <p:nvPr/>
        </p:nvSpPr>
        <p:spPr>
          <a:xfrm>
            <a:off x="4846320" y="17373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 Σ x_e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s.t. Σ x_e ≤ 1  (candidate u)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Σ x_e ≤ c_v (role 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x_e ∈ {0,1}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of A has two 1s (its candidate row, its role row): A is totally unimodular, so the LP relaxation is already integral.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Berge’s Lemma: the optimality test</a:t>
            </a:r>
            <a:endParaRPr lang="en-US" sz="3000" dirty="0"/>
          </a:p>
        </p:txBody>
      </p:sp>
      <p:sp>
        <p:nvSpPr>
          <p:cNvPr id="3" name="lemma card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emma text"/>
          <p:cNvSpPr txBox="1"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 is a maximum matching if and only if there is no M-augmenting path (alternating, from a free candidate to a free seat).</a:t>
            </a:r>
            <a:endParaRPr lang="en-US" sz="1500" dirty="0"/>
          </a:p>
        </p:txBody>
      </p:sp>
      <p:sp>
        <p:nvSpPr>
          <p:cNvPr id="5" name="fwd card"/>
          <p:cNvSpPr/>
          <p:nvPr/>
        </p:nvSpPr>
        <p:spPr>
          <a:xfrm>
            <a:off x="457200" y="2103120"/>
            <a:ext cx="4023360" cy="2560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fwd title"/>
          <p:cNvSpPr txBox="1"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(⇒) A path gives a bigger matching</a:t>
            </a:r>
            <a:endParaRPr lang="en-US" sz="1600" dirty="0"/>
          </a:p>
        </p:txBody>
      </p:sp>
      <p:sp>
        <p:nvSpPr>
          <p:cNvPr id="7" name="fwd bullets"/>
          <p:cNvSpPr txBox="1"/>
          <p:nvPr/>
        </p:nvSpPr>
        <p:spPr>
          <a:xfrm>
            <a:off x="640080" y="26517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Flip the path: matched edges out, unmatched edges 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Both endpoints were free, interior vertices keep one partner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|M′| = |M| + 1, so M was not maximum</a:t>
            </a:r>
            <a:endParaRPr lang="en-US" sz="1500" dirty="0"/>
          </a:p>
        </p:txBody>
      </p:sp>
      <p:sp>
        <p:nvSpPr>
          <p:cNvPr id="8" name="back card"/>
          <p:cNvSpPr/>
          <p:nvPr/>
        </p:nvSpPr>
        <p:spPr>
          <a:xfrm>
            <a:off x="4663440" y="2103120"/>
            <a:ext cx="4023360" cy="2560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ck title"/>
          <p:cNvSpPr txBox="1"/>
          <p:nvPr/>
        </p:nvSpPr>
        <p:spPr>
          <a:xfrm>
            <a:off x="484632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(⇐) A bigger matching gives a path</a:t>
            </a:r>
            <a:endParaRPr lang="en-US" sz="1600" dirty="0"/>
          </a:p>
        </p:txBody>
      </p:sp>
      <p:sp>
        <p:nvSpPr>
          <p:cNvPr id="10" name="back bullets"/>
          <p:cNvSpPr txBox="1"/>
          <p:nvPr/>
        </p:nvSpPr>
        <p:spPr>
          <a:xfrm>
            <a:off x="4846320" y="26517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Take M′ with |M′| &gt; |M|; look at M △ M′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Degree ≤ 2, so it splits into paths and even cycles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Some odd path has more M′ edges; its endpoints are M-free: an augmenting path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Hopcroft–Karp in Dinic form, warm-started</a:t>
            </a:r>
            <a:endParaRPr lang="en-US" sz="3000" dirty="0"/>
          </a:p>
        </p:txBody>
      </p:sp>
      <p:sp>
        <p:nvSpPr>
          <p:cNvPr id="3" name="step 1 card"/>
          <p:cNvSpPr/>
          <p:nvPr/>
        </p:nvSpPr>
        <p:spPr>
          <a:xfrm>
            <a:off x="457200" y="1280160"/>
            <a:ext cx="192024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1 badge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tep 1 num"/>
          <p:cNvSpPr txBox="1"/>
          <p:nvPr/>
        </p:nvSpPr>
        <p:spPr>
          <a:xfrm>
            <a:off x="594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tep 1 title"/>
          <p:cNvSpPr txBox="1"/>
          <p:nvPr/>
        </p:nvSpPr>
        <p:spPr>
          <a:xfrm>
            <a:off x="59436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 start</a:t>
            </a:r>
            <a:endParaRPr lang="en-US" sz="1600" dirty="0"/>
          </a:p>
        </p:txBody>
      </p:sp>
      <p:sp>
        <p:nvSpPr>
          <p:cNvPr id="7" name="step 1 text"/>
          <p:cNvSpPr txBox="1"/>
          <p:nvPr/>
        </p:nvSpPr>
        <p:spPr>
          <a:xfrm>
            <a:off x="594360" y="242316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Pre-load the greedy assignment as flow, so every fix found repairs a specific greedy mistake</a:t>
            </a:r>
            <a:endParaRPr lang="en-US" sz="1300" dirty="0"/>
          </a:p>
        </p:txBody>
      </p:sp>
      <p:sp>
        <p:nvSpPr>
          <p:cNvPr id="8" name="step 2 card"/>
          <p:cNvSpPr/>
          <p:nvPr/>
        </p:nvSpPr>
        <p:spPr>
          <a:xfrm>
            <a:off x="2542032" y="1280160"/>
            <a:ext cx="192024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2 badge"/>
          <p:cNvSpPr/>
          <p:nvPr/>
        </p:nvSpPr>
        <p:spPr>
          <a:xfrm>
            <a:off x="2679192" y="1417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 2 num"/>
          <p:cNvSpPr txBox="1"/>
          <p:nvPr/>
        </p:nvSpPr>
        <p:spPr>
          <a:xfrm>
            <a:off x="267919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tep 2 title"/>
          <p:cNvSpPr txBox="1"/>
          <p:nvPr/>
        </p:nvSpPr>
        <p:spPr>
          <a:xfrm>
            <a:off x="2679192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levels</a:t>
            </a:r>
            <a:endParaRPr lang="en-US" sz="1600" dirty="0"/>
          </a:p>
        </p:txBody>
      </p:sp>
      <p:sp>
        <p:nvSpPr>
          <p:cNvPr id="12" name="step 2 text"/>
          <p:cNvSpPr txBox="1"/>
          <p:nvPr/>
        </p:nvSpPr>
        <p:spPr>
          <a:xfrm>
            <a:off x="2679192" y="242316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Label vertices by distance from s over pipes with spare capacity; if t is unreached, stop: optimal</a:t>
            </a:r>
            <a:endParaRPr lang="en-US" sz="1300" dirty="0"/>
          </a:p>
        </p:txBody>
      </p:sp>
      <p:sp>
        <p:nvSpPr>
          <p:cNvPr id="13" name="step 3 card"/>
          <p:cNvSpPr/>
          <p:nvPr/>
        </p:nvSpPr>
        <p:spPr>
          <a:xfrm>
            <a:off x="4626864" y="1280160"/>
            <a:ext cx="192024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3 badge"/>
          <p:cNvSpPr/>
          <p:nvPr/>
        </p:nvSpPr>
        <p:spPr>
          <a:xfrm>
            <a:off x="4764024" y="1417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 num"/>
          <p:cNvSpPr txBox="1"/>
          <p:nvPr/>
        </p:nvSpPr>
        <p:spPr>
          <a:xfrm>
            <a:off x="4764024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tep 3 title"/>
          <p:cNvSpPr txBox="1"/>
          <p:nvPr/>
        </p:nvSpPr>
        <p:spPr>
          <a:xfrm>
            <a:off x="4764024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DFS blocking flow</a:t>
            </a:r>
            <a:endParaRPr lang="en-US" sz="1600" dirty="0"/>
          </a:p>
        </p:txBody>
      </p:sp>
      <p:sp>
        <p:nvSpPr>
          <p:cNvPr id="17" name="step 3 text"/>
          <p:cNvSpPr txBox="1"/>
          <p:nvPr/>
        </p:nvSpPr>
        <p:spPr>
          <a:xfrm>
            <a:off x="4764024" y="242316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Walk only level k → k+1, push one unit per path, prune dead ends with current-arc pointers</a:t>
            </a:r>
            <a:endParaRPr lang="en-US" sz="1300" dirty="0"/>
          </a:p>
        </p:txBody>
      </p:sp>
      <p:sp>
        <p:nvSpPr>
          <p:cNvPr id="18" name="step 4 card"/>
          <p:cNvSpPr/>
          <p:nvPr/>
        </p:nvSpPr>
        <p:spPr>
          <a:xfrm>
            <a:off x="6711696" y="1280160"/>
            <a:ext cx="192024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4 badge"/>
          <p:cNvSpPr/>
          <p:nvPr/>
        </p:nvSpPr>
        <p:spPr>
          <a:xfrm>
            <a:off x="6848856" y="1417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tep 4 num"/>
          <p:cNvSpPr txBox="1"/>
          <p:nvPr/>
        </p:nvSpPr>
        <p:spPr>
          <a:xfrm>
            <a:off x="684885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tep 4 title"/>
          <p:cNvSpPr txBox="1"/>
          <p:nvPr/>
        </p:nvSpPr>
        <p:spPr>
          <a:xfrm>
            <a:off x="6848856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600" dirty="0"/>
          </a:p>
        </p:txBody>
      </p:sp>
      <p:sp>
        <p:nvSpPr>
          <p:cNvPr id="22" name="step 4 text"/>
          <p:cNvSpPr txBox="1"/>
          <p:nvPr/>
        </p:nvSpPr>
        <p:spPr>
          <a:xfrm>
            <a:off x="6848856" y="242316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Shortest path length strictly grows each phase: 5, 7, 9, 11 edges on our data</a:t>
            </a:r>
            <a:endParaRPr lang="en-US" sz="1300" dirty="0"/>
          </a:p>
        </p:txBody>
      </p:sp>
      <p:sp>
        <p:nvSpPr>
          <p:cNvPr id="23" name="phase note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Only 4 phases were needed from the greedy start (5 from scratch).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Complexity: O(|E|√|V|)</a:t>
            </a:r>
            <a:endParaRPr lang="en-US" sz="3000" dirty="0"/>
          </a:p>
        </p:txBody>
      </p:sp>
      <p:sp>
        <p:nvSpPr>
          <p:cNvPr id="3" name="phase cost card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st title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phase costs O(|E|)</a:t>
            </a:r>
            <a:endParaRPr lang="en-US" sz="1800" dirty="0"/>
          </a:p>
        </p:txBody>
      </p:sp>
      <p:sp>
        <p:nvSpPr>
          <p:cNvPr id="5" name="cost bullets"/>
          <p:cNvSpPr txBox="1"/>
          <p:nvPr/>
        </p:nvSpPr>
        <p:spPr>
          <a:xfrm>
            <a:off x="640080" y="17373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BFS touches each edge once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edge except (v,t) has capacity 1, so it carries at most one path per phase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Current-arc pointers: each edge is a dead end at most once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Total path work ≤ |E| + #paths</a:t>
            </a:r>
            <a:endParaRPr lang="en-US" sz="1600" dirty="0"/>
          </a:p>
        </p:txBody>
      </p:sp>
      <p:sp>
        <p:nvSpPr>
          <p:cNvPr id="6" name="phase count card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ount title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√N phases</a:t>
            </a:r>
            <a:endParaRPr lang="en-US" sz="1800" dirty="0"/>
          </a:p>
        </p:txBody>
      </p:sp>
      <p:sp>
        <p:nvSpPr>
          <p:cNvPr id="8" name="count bullets"/>
          <p:cNvSpPr txBox="1"/>
          <p:nvPr/>
        </p:nvSpPr>
        <p:spPr>
          <a:xfrm>
            <a:off x="4846320" y="17373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After √N phases the shortest fix has ≥ √N edges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Candidates have unit throughput, so leftover fixes are disjoint, each using ≥ √N/2 candidates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most 2|U|/√N ≤ 2√N remain; each phase fixes ≥ 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Observed: 4 phases, far below √N ≈ 52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structure and design choices</a:t>
            </a:r>
            <a:endParaRPr lang="en-US" sz="3000" dirty="0"/>
          </a:p>
        </p:txBody>
      </p:sp>
      <p:sp>
        <p:nvSpPr>
          <p:cNvPr id="3" name="module 1 card"/>
          <p:cNvSpPr/>
          <p:nvPr/>
        </p:nvSpPr>
        <p:spPr>
          <a:xfrm>
            <a:off x="457200" y="118872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ule 1 name"/>
          <p:cNvSpPr txBox="1"/>
          <p:nvPr/>
        </p:nvSpPr>
        <p:spPr>
          <a:xfrm>
            <a:off x="59436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/ load_csv</a:t>
            </a:r>
            <a:endParaRPr lang="en-US" sz="1400" dirty="0"/>
          </a:p>
        </p:txBody>
      </p:sp>
      <p:sp>
        <p:nvSpPr>
          <p:cNvPr id="5" name="module 1 desc"/>
          <p:cNvSpPr txBox="1"/>
          <p:nvPr/>
        </p:nvSpPr>
        <p:spPr>
          <a:xfrm>
            <a:off x="594360" y="1600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Seeded synthetic data or validated real CSVs; original ids preserved</a:t>
            </a:r>
            <a:endParaRPr lang="en-US" sz="1300" dirty="0"/>
          </a:p>
        </p:txBody>
      </p:sp>
      <p:sp>
        <p:nvSpPr>
          <p:cNvPr id="6" name="module 2 card"/>
          <p:cNvSpPr/>
          <p:nvPr/>
        </p:nvSpPr>
        <p:spPr>
          <a:xfrm>
            <a:off x="4663440" y="118872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module 2 name"/>
          <p:cNvSpPr txBox="1"/>
          <p:nvPr/>
        </p:nvSpPr>
        <p:spPr>
          <a:xfrm>
            <a:off x="480060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greedy</a:t>
            </a:r>
            <a:endParaRPr lang="en-US" sz="1400" dirty="0"/>
          </a:p>
        </p:txBody>
      </p:sp>
      <p:sp>
        <p:nvSpPr>
          <p:cNvPr id="8" name="module 2 desc"/>
          <p:cNvSpPr txBox="1"/>
          <p:nvPr/>
        </p:nvSpPr>
        <p:spPr>
          <a:xfrm>
            <a:off x="4800600" y="1600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First-fit baseline that defines the gap</a:t>
            </a:r>
            <a:endParaRPr lang="en-US" sz="1300" dirty="0"/>
          </a:p>
        </p:txBody>
      </p:sp>
      <p:sp>
        <p:nvSpPr>
          <p:cNvPr id="9" name="module 3 card"/>
          <p:cNvSpPr/>
          <p:nvPr/>
        </p:nvSpPr>
        <p:spPr>
          <a:xfrm>
            <a:off x="457200" y="233172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odule 3 name"/>
          <p:cNvSpPr txBox="1"/>
          <p:nvPr/>
        </p:nvSpPr>
        <p:spPr>
          <a:xfrm>
            <a:off x="594360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400" dirty="0"/>
          </a:p>
        </p:txBody>
      </p:sp>
      <p:sp>
        <p:nvSpPr>
          <p:cNvPr id="11" name="module 3 desc"/>
          <p:cNvSpPr txBox="1"/>
          <p:nvPr/>
        </p:nvSpPr>
        <p:spPr>
          <a:xfrm>
            <a:off x="594360" y="2743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Hand-written flow graph; edge e and its reverse e^1 stored together</a:t>
            </a:r>
            <a:endParaRPr lang="en-US" sz="1300" dirty="0"/>
          </a:p>
        </p:txBody>
      </p:sp>
      <p:sp>
        <p:nvSpPr>
          <p:cNvPr id="12" name="module 4 card"/>
          <p:cNvSpPr/>
          <p:nvPr/>
        </p:nvSpPr>
        <p:spPr>
          <a:xfrm>
            <a:off x="4663440" y="233172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odule 4 name"/>
          <p:cNvSpPr txBox="1"/>
          <p:nvPr/>
        </p:nvSpPr>
        <p:spPr>
          <a:xfrm>
            <a:off x="4800600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 / blocking_flow</a:t>
            </a:r>
            <a:endParaRPr lang="en-US" sz="1400" dirty="0"/>
          </a:p>
        </p:txBody>
      </p:sp>
      <p:sp>
        <p:nvSpPr>
          <p:cNvPr id="14" name="module 4 desc"/>
          <p:cNvSpPr txBox="1"/>
          <p:nvPr/>
        </p:nvSpPr>
        <p:spPr>
          <a:xfrm>
            <a:off x="4800600" y="2743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Iterative level graph + DFS, no recursion limit</a:t>
            </a:r>
            <a:endParaRPr lang="en-US" sz="1300" dirty="0"/>
          </a:p>
        </p:txBody>
      </p:sp>
      <p:sp>
        <p:nvSpPr>
          <p:cNvPr id="15" name="module 5 card"/>
          <p:cNvSpPr/>
          <p:nvPr/>
        </p:nvSpPr>
        <p:spPr>
          <a:xfrm>
            <a:off x="457200" y="347472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odule 5 name"/>
          <p:cNvSpPr txBox="1"/>
          <p:nvPr/>
        </p:nvSpPr>
        <p:spPr>
          <a:xfrm>
            <a:off x="594360" y="3547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+ min-cut</a:t>
            </a:r>
            <a:endParaRPr lang="en-US" sz="1400" dirty="0"/>
          </a:p>
        </p:txBody>
      </p:sp>
      <p:sp>
        <p:nvSpPr>
          <p:cNvPr id="17" name="module 5 desc"/>
          <p:cNvSpPr txBox="1"/>
          <p:nvPr/>
        </p:nvSpPr>
        <p:spPr>
          <a:xfrm>
            <a:off x="594360" y="3886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Feasibility check; residual BFS gives the optimality certificate</a:t>
            </a:r>
            <a:endParaRPr lang="en-US" sz="1300" dirty="0"/>
          </a:p>
        </p:txBody>
      </p:sp>
      <p:sp>
        <p:nvSpPr>
          <p:cNvPr id="18" name="module 6 card"/>
          <p:cNvSpPr/>
          <p:nvPr/>
        </p:nvSpPr>
        <p:spPr>
          <a:xfrm>
            <a:off x="4663440" y="347472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module 6 name"/>
          <p:cNvSpPr txBox="1"/>
          <p:nvPr/>
        </p:nvSpPr>
        <p:spPr>
          <a:xfrm>
            <a:off x="4800600" y="3547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ilp_solve / draw</a:t>
            </a:r>
            <a:endParaRPr lang="en-US" sz="1400" dirty="0"/>
          </a:p>
        </p:txBody>
      </p:sp>
      <p:sp>
        <p:nvSpPr>
          <p:cNvPr id="20" name="module 6 desc"/>
          <p:cNvSpPr txBox="1"/>
          <p:nvPr/>
        </p:nvSpPr>
        <p:spPr>
          <a:xfrm>
            <a:off x="4800600" y="3886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scipy milp &amp; linprog benchmark; networkx used only for drawing and flow validation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Optimality is certified three independent ways</a:t>
            </a:r>
            <a:endParaRPr lang="en-US" sz="3000" dirty="0"/>
          </a:p>
        </p:txBody>
      </p:sp>
      <p:sp>
        <p:nvSpPr>
          <p:cNvPr id="3" name="cert 1 card"/>
          <p:cNvSpPr/>
          <p:nvPr/>
        </p:nvSpPr>
        <p:spPr>
          <a:xfrm>
            <a:off x="457200" y="1280160"/>
            <a:ext cx="265176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ert 1 name"/>
          <p:cNvSpPr txBox="1"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Berge</a:t>
            </a:r>
            <a:endParaRPr lang="en-US" sz="1800" dirty="0"/>
          </a:p>
        </p:txBody>
      </p:sp>
      <p:sp>
        <p:nvSpPr>
          <p:cNvPr id="5" name="cert 1 value"/>
          <p:cNvSpPr txBox="1"/>
          <p:nvPr/>
        </p:nvSpPr>
        <p:spPr>
          <a:xfrm>
            <a:off x="59436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1,901</a:t>
            </a:r>
            <a:endParaRPr lang="en-US" sz="4000" dirty="0"/>
          </a:p>
        </p:txBody>
      </p:sp>
      <p:sp>
        <p:nvSpPr>
          <p:cNvPr id="6" name="cert 1 text"/>
          <p:cNvSpPr txBox="1"/>
          <p:nvPr/>
        </p:nvSpPr>
        <p:spPr>
          <a:xfrm>
            <a:off x="59436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augmenting path remains: residual BFS cannot reach t</a:t>
            </a:r>
            <a:endParaRPr lang="en-US" sz="1400" dirty="0"/>
          </a:p>
        </p:txBody>
      </p:sp>
      <p:sp>
        <p:nvSpPr>
          <p:cNvPr id="7" name="cert 2 card"/>
          <p:cNvSpPr/>
          <p:nvPr/>
        </p:nvSpPr>
        <p:spPr>
          <a:xfrm>
            <a:off x="3264408" y="1280160"/>
            <a:ext cx="265176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ert 2 name"/>
          <p:cNvSpPr txBox="1"/>
          <p:nvPr/>
        </p:nvSpPr>
        <p:spPr>
          <a:xfrm>
            <a:off x="3401568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Min-cut</a:t>
            </a:r>
            <a:endParaRPr lang="en-US" sz="1800" dirty="0"/>
          </a:p>
        </p:txBody>
      </p:sp>
      <p:sp>
        <p:nvSpPr>
          <p:cNvPr id="9" name="cert 2 value"/>
          <p:cNvSpPr txBox="1"/>
          <p:nvPr/>
        </p:nvSpPr>
        <p:spPr>
          <a:xfrm>
            <a:off x="3401568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1,901</a:t>
            </a:r>
            <a:endParaRPr lang="en-US" sz="4000" dirty="0"/>
          </a:p>
        </p:txBody>
      </p:sp>
      <p:sp>
        <p:nvSpPr>
          <p:cNvPr id="10" name="cert 2 text"/>
          <p:cNvSpPr txBox="1"/>
          <p:nvPr/>
        </p:nvSpPr>
        <p:spPr>
          <a:xfrm>
            <a:off x="3401568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Capacity of the cut around vertices reachable from s equals the flow</a:t>
            </a:r>
            <a:endParaRPr lang="en-US" sz="1400" dirty="0"/>
          </a:p>
        </p:txBody>
      </p:sp>
      <p:sp>
        <p:nvSpPr>
          <p:cNvPr id="11" name="cert 3 card"/>
          <p:cNvSpPr/>
          <p:nvPr/>
        </p:nvSpPr>
        <p:spPr>
          <a:xfrm>
            <a:off x="6071616" y="1280160"/>
            <a:ext cx="265176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ert 3 name"/>
          <p:cNvSpPr txBox="1"/>
          <p:nvPr/>
        </p:nvSpPr>
        <p:spPr>
          <a:xfrm>
            <a:off x="6208776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Solvers</a:t>
            </a:r>
            <a:endParaRPr lang="en-US" sz="1800" dirty="0"/>
          </a:p>
        </p:txBody>
      </p:sp>
      <p:sp>
        <p:nvSpPr>
          <p:cNvPr id="13" name="cert 3 value"/>
          <p:cNvSpPr txBox="1"/>
          <p:nvPr/>
        </p:nvSpPr>
        <p:spPr>
          <a:xfrm>
            <a:off x="6208776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1,901</a:t>
            </a:r>
            <a:endParaRPr lang="en-US" sz="4000" dirty="0"/>
          </a:p>
        </p:txBody>
      </p:sp>
      <p:sp>
        <p:nvSpPr>
          <p:cNvPr id="14" name="cert 3 text"/>
          <p:cNvSpPr txBox="1"/>
          <p:nvPr/>
        </p:nvSpPr>
        <p:spPr>
          <a:xfrm>
            <a:off x="6208776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networkx max-flow, scipy milp (ILP) and linprog (LP) all agree</a:t>
            </a:r>
            <a:endParaRPr lang="en-US" sz="1400" dirty="0"/>
          </a:p>
        </p:txBody>
      </p:sp>
      <p:sp>
        <p:nvSpPr>
          <p:cNvPr id="15" name="cert note"/>
          <p:cNvSpPr txBox="1"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The program asserts all three on every run and aborts on any disagreement.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greedy mistake is undone</a:t>
            </a:r>
            <a:endParaRPr lang="en-US" sz="3000" dirty="0"/>
          </a:p>
        </p:txBody>
      </p:sp>
      <p:sp>
        <p:nvSpPr>
          <p:cNvPr id="3" name="chip 1"/>
          <p:cNvSpPr/>
          <p:nvPr/>
        </p:nvSpPr>
        <p:spPr>
          <a:xfrm>
            <a:off x="457200" y="137160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6EBDD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chip text 1"/>
          <p:cNvSpPr txBox="1"/>
          <p:nvPr/>
        </p:nvSpPr>
        <p:spPr>
          <a:xfrm>
            <a:off x="493776" y="13716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C1173 takes R219</a:t>
            </a:r>
            <a:endParaRPr lang="en-US" sz="1200" dirty="0"/>
          </a:p>
        </p:txBody>
      </p:sp>
      <p:sp>
        <p:nvSpPr>
          <p:cNvPr id="5" name="chip 2"/>
          <p:cNvSpPr/>
          <p:nvPr/>
        </p:nvSpPr>
        <p:spPr>
          <a:xfrm>
            <a:off x="2121408" y="137160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7DAD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chip text 2"/>
          <p:cNvSpPr txBox="1"/>
          <p:nvPr/>
        </p:nvSpPr>
        <p:spPr>
          <a:xfrm>
            <a:off x="2157984" y="13716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C0540 vacates R219</a:t>
            </a:r>
            <a:endParaRPr lang="en-US" sz="1200" dirty="0"/>
          </a:p>
        </p:txBody>
      </p:sp>
      <p:sp>
        <p:nvSpPr>
          <p:cNvPr id="7" name="chip 3"/>
          <p:cNvSpPr/>
          <p:nvPr/>
        </p:nvSpPr>
        <p:spPr>
          <a:xfrm>
            <a:off x="3785616" y="137160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6EBDD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chip text 3"/>
          <p:cNvSpPr txBox="1"/>
          <p:nvPr/>
        </p:nvSpPr>
        <p:spPr>
          <a:xfrm>
            <a:off x="3822192" y="13716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C0540 takes R300</a:t>
            </a:r>
            <a:endParaRPr lang="en-US" sz="1200" dirty="0"/>
          </a:p>
        </p:txBody>
      </p:sp>
      <p:sp>
        <p:nvSpPr>
          <p:cNvPr id="9" name="chip 4"/>
          <p:cNvSpPr/>
          <p:nvPr/>
        </p:nvSpPr>
        <p:spPr>
          <a:xfrm>
            <a:off x="5449824" y="137160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7DAD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chip text 4"/>
          <p:cNvSpPr txBox="1"/>
          <p:nvPr/>
        </p:nvSpPr>
        <p:spPr>
          <a:xfrm>
            <a:off x="5486400" y="13716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C0768 vacates R300</a:t>
            </a:r>
            <a:endParaRPr lang="en-US" sz="1200" dirty="0"/>
          </a:p>
        </p:txBody>
      </p:sp>
      <p:sp>
        <p:nvSpPr>
          <p:cNvPr id="11" name="chip 5"/>
          <p:cNvSpPr/>
          <p:nvPr/>
        </p:nvSpPr>
        <p:spPr>
          <a:xfrm>
            <a:off x="7114032" y="137160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6EBDD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chip text 5"/>
          <p:cNvSpPr txBox="1"/>
          <p:nvPr/>
        </p:nvSpPr>
        <p:spPr>
          <a:xfrm>
            <a:off x="7150608" y="137160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C0768 takes R060</a:t>
            </a:r>
            <a:endParaRPr lang="en-US" sz="1200" dirty="0"/>
          </a:p>
        </p:txBody>
      </p:sp>
      <p:sp>
        <p:nvSpPr>
          <p:cNvPr id="13" name="chip 6"/>
          <p:cNvSpPr/>
          <p:nvPr/>
        </p:nvSpPr>
        <p:spPr>
          <a:xfrm>
            <a:off x="457200" y="23317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7DAD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hip text 6"/>
          <p:cNvSpPr txBox="1"/>
          <p:nvPr/>
        </p:nvSpPr>
        <p:spPr>
          <a:xfrm>
            <a:off x="493776" y="23317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C0700 vacates R060</a:t>
            </a:r>
            <a:endParaRPr lang="en-US" sz="1200" dirty="0"/>
          </a:p>
        </p:txBody>
      </p:sp>
      <p:sp>
        <p:nvSpPr>
          <p:cNvPr id="15" name="chip 7"/>
          <p:cNvSpPr/>
          <p:nvPr/>
        </p:nvSpPr>
        <p:spPr>
          <a:xfrm>
            <a:off x="2121408" y="23317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6EBDD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chip text 7"/>
          <p:cNvSpPr txBox="1"/>
          <p:nvPr/>
        </p:nvSpPr>
        <p:spPr>
          <a:xfrm>
            <a:off x="2157984" y="23317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C0700 takes R277</a:t>
            </a:r>
            <a:endParaRPr lang="en-US" sz="1200" dirty="0"/>
          </a:p>
        </p:txBody>
      </p:sp>
      <p:sp>
        <p:nvSpPr>
          <p:cNvPr id="17" name="chip 8"/>
          <p:cNvSpPr/>
          <p:nvPr/>
        </p:nvSpPr>
        <p:spPr>
          <a:xfrm>
            <a:off x="3785616" y="23317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7DAD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chip text 8"/>
          <p:cNvSpPr txBox="1"/>
          <p:nvPr/>
        </p:nvSpPr>
        <p:spPr>
          <a:xfrm>
            <a:off x="3822192" y="23317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C2215 vacates R277</a:t>
            </a:r>
            <a:endParaRPr lang="en-US" sz="1200" dirty="0"/>
          </a:p>
        </p:txBody>
      </p:sp>
      <p:sp>
        <p:nvSpPr>
          <p:cNvPr id="19" name="chip 9"/>
          <p:cNvSpPr/>
          <p:nvPr/>
        </p:nvSpPr>
        <p:spPr>
          <a:xfrm>
            <a:off x="5449824" y="23317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D6EBDD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chip text 9"/>
          <p:cNvSpPr txBox="1"/>
          <p:nvPr/>
        </p:nvSpPr>
        <p:spPr>
          <a:xfrm>
            <a:off x="5486400" y="233172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C2215 takes R017</a:t>
            </a:r>
            <a:endParaRPr lang="en-US" sz="1200" dirty="0"/>
          </a:p>
        </p:txBody>
      </p:sp>
      <p:sp>
        <p:nvSpPr>
          <p:cNvPr id="21" name="trace bullets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Green: a new placement. Red: a candidate gives up the seat greedy had given them (a backward residual edge)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C1173 had no open role because greedy filled R219 early; four earlier hires each shift one step and the chain ends at R017, which still had a free seat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placements and 4 removals: net +1 hire, nobody loses a job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Visualization: chains and the gap</a:t>
            </a:r>
            <a:endParaRPr lang="en-US" sz="3000" dirty="0"/>
          </a:p>
        </p:txBody>
      </p:sp>
      <p:pic>
        <p:nvPicPr>
          <p:cNvPr id="3" name="matching figure" descr="Left: three longest augmenting chains as bipartite bands, green optimal edges and red dashed greedy edges. Right: bar chart of greedy 1709, optimal 1901 and capacity 2039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583680" cy="3511296"/>
          </a:xfrm>
          <a:prstGeom prst="rect">
            <a:avLst/>
          </a:prstGeom>
        </p:spPr>
      </p:pic>
      <p:sp>
        <p:nvSpPr>
          <p:cNvPr id="4" name="figure bullets"/>
          <p:cNvSpPr txBox="1"/>
          <p:nvPr/>
        </p:nvSpPr>
        <p:spPr>
          <a:xfrm>
            <a:off x="7223760" y="1280160"/>
            <a:ext cx="1554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Green: edge in the optimal matching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Red dashed: greedy edge that was undone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Each band is one chain; the staircase is the “everyone shifts one seat” move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Right panel: the 192-hire gap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Hopcroft–Karp scales gently and beats the ILP</a:t>
            </a:r>
            <a:endParaRPr lang="en-US" sz="3000" dirty="0"/>
          </a:p>
        </p:txBody>
      </p:sp>
      <p:graphicFrame>
        <p:nvGraphicFramePr>
          <p:cNvPr id="3" name="scaling chart" descr=""/>
          <p:cNvGraphicFramePr/>
          <p:nvPr/>
        </p:nvGraphicFramePr>
        <p:xfrm>
          <a:off x="45720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scal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80160"/>
          <a:ext cx="29260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548640"/>
                <a:gridCol w="548640"/>
                <a:gridCol w="548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|U|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|E|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HK ms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ILP ms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ILP / HK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1,200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3,053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73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3.8x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2,400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6,101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3.3x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4,800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12,236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75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3.9x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9,600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24,732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842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3.7x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caling note"/>
          <p:cNvSpPr txBox="1"/>
          <p:nvPr/>
        </p:nvSpPr>
        <p:spPr>
          <a:xfrm>
            <a:off x="576072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Size ×8.1 (|E|) → HK time ×12, about |E|^1.19, inside the |E|√|V| bound (×23). Main instance: HK 25 ms, LP 35 ms, ILP 123 ms.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between methods</a:t>
            </a:r>
            <a:endParaRPr lang="en-US" sz="3000" dirty="0"/>
          </a:p>
        </p:txBody>
      </p:sp>
      <p:graphicFrame>
        <p:nvGraphicFramePr>
          <p:cNvPr id="14" name="tradeoff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82880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Optimal?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Speed (main instance)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Best used when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Greedy first-fit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No: 1,709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0.4 ms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Instant estimate; never reconsiders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Hopcroft–Karp (ours)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Yes: 1,901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25 ms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Pure matching; provable O(|E|√|V|)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LP relaxation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Yes (integral)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35 ms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Extra linear constraints, weights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ILP (milp)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Yes: 1,901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123 ms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Side constraints that break the flow model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radeoff note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trade-off: the flow engine is 3–4x faster and carries a proof; the ILP is more general but offers no better answer 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adherence and edge cases</a:t>
            </a:r>
            <a:endParaRPr lang="en-US" sz="3000" dirty="0"/>
          </a:p>
        </p:txBody>
      </p:sp>
      <p:sp>
        <p:nvSpPr>
          <p:cNvPr id="3" name="guarantees card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guar title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Guaranteed on every run</a:t>
            </a:r>
            <a:endParaRPr lang="en-US" sz="1800" dirty="0"/>
          </a:p>
        </p:txBody>
      </p:sp>
      <p:sp>
        <p:nvSpPr>
          <p:cNvPr id="5" name="guar bullets"/>
          <p:cNvSpPr txBox="1"/>
          <p:nvPr/>
        </p:nvSpPr>
        <p:spPr>
          <a:xfrm>
            <a:off x="64008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eligible roles assigned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role exceeds its capacity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Warm and cold runs agree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Min-cut = max-flow = networkx = ILP = LP</a:t>
            </a:r>
            <a:endParaRPr lang="en-US" sz="1600" dirty="0"/>
          </a:p>
        </p:txBody>
      </p:sp>
      <p:sp>
        <p:nvSpPr>
          <p:cNvPr id="6" name="tests card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sts title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automated tests</a:t>
            </a:r>
            <a:endParaRPr lang="en-US" sz="1800" dirty="0"/>
          </a:p>
        </p:txBody>
      </p:sp>
      <p:sp>
        <p:nvSpPr>
          <p:cNvPr id="8" name="tests bullets"/>
          <p:cNvSpPr txBox="1"/>
          <p:nvPr/>
        </p:nvSpPr>
        <p:spPr>
          <a:xfrm>
            <a:off x="4846320" y="17373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300 random small instances vs networkx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 string ids kept; duplicate edges collapsed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Zero-capacity roles; more candidates than seats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Candidates with no edges; empty input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Clear errors: unknown role, negative or non-integer capacity, duplicate role, missing column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40-step forced augmenting chain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itle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3" name="Closing bullets"/>
          <p:cNvSpPr txBox="1"/>
          <p:nvPr/>
        </p:nvSpPr>
        <p:spPr>
          <a:xfrm>
            <a:off x="548640" y="137160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Greedy leaves 192 hires (11%) on the table because its choices are irreversible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Augmenting-path repair recovers all of them in 4 phases, with nobody losing a job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Berge’s Lemma, a matching min-cut and three solvers certify 1,901 as optimal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O(|E|√|V|) engine, 3–4x faster than an ILP, tested on edge cases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Caveat: data is synthetic; run allocate.py with --edges and --roles on real data</a:t>
            </a:r>
            <a:endParaRPr lang="en-US" sz="1800" dirty="0"/>
          </a:p>
        </p:txBody>
      </p:sp>
      <p:sp>
        <p:nvSpPr>
          <p:cNvPr id="4" name="Closing files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Repository: allocate.py · assignment.csv · matching_vis.png · report.md · README.md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ching">
  <a:themeElements>
    <a:clrScheme name="Matching">
      <a:dk1>
        <a:srgbClr val="1B1F2A"/>
      </a:dk1>
      <a:lt1>
        <a:srgbClr val="FFFFFF"/>
      </a:lt1>
      <a:dk2>
        <a:srgbClr val="14213D"/>
      </a:dk2>
      <a:lt2>
        <a:srgbClr val="EEF1F6"/>
      </a:lt2>
      <a:accent1>
        <a:srgbClr val="14213D"/>
      </a:accent1>
      <a:accent2>
        <a:srgbClr val="F2A33A"/>
      </a:accent2>
      <a:accent3>
        <a:srgbClr val="2E7D4F"/>
      </a:accent3>
      <a:accent4>
        <a:srgbClr val="C0392B"/>
      </a:accent4>
      <a:accent5>
        <a:srgbClr val="4A6FA5"/>
      </a:accent5>
      <a:accent6>
        <a:srgbClr val="8A94A6"/>
      </a:accent6>
      <a:hlink>
        <a:srgbClr val="4A6FA5"/>
      </a:hlink>
      <a:folHlink>
        <a:srgbClr val="8A94A6"/>
      </a:folHlink>
    </a:clrScheme>
    <a:fontScheme name="Match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Maximum Bipartite Matching via Augmenting Paths - Delta Code 2026 PS1</dc:title>
  <dc:subject>PptxGenJS Presentation</dc:subject>
  <dc:creator>Venkatesh Dharavath</dc:creator>
  <cp:lastModifiedBy>Venkatesh Dharavath</cp:lastModifiedBy>
  <cp:revision>1</cp:revision>
  <dcterms:created xsi:type="dcterms:W3CDTF">2026-10-28T04:40:29Z</dcterms:created>
  <dcterms:modified xsi:type="dcterms:W3CDTF">2026-10-28T04:40:29Z</dcterms:modified>
</cp:coreProperties>
</file>